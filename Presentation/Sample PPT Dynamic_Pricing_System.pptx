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Demand</c:v>
                </c:pt>
              </c:strCache>
            </c:strRef>
          </c:tx>
          <c:spPr>
            <a:solidFill>
              <a:srgbClr val="00B4D8"/>
            </a:solidFill>
            <a:ln w="3175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420</c:v>
                </c:pt>
                <c:pt idx="1">
                  <c:v>390</c:v>
                </c:pt>
                <c:pt idx="2">
                  <c:v>450</c:v>
                </c:pt>
                <c:pt idx="3">
                  <c:v>480</c:v>
                </c:pt>
                <c:pt idx="4">
                  <c:v>520</c:v>
                </c:pt>
                <c:pt idx="5">
                  <c:v>610</c:v>
                </c:pt>
                <c:pt idx="6">
                  <c:v>720</c:v>
                </c:pt>
                <c:pt idx="7">
                  <c:v>680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Predicted Demand</c:v>
                </c:pt>
              </c:strCache>
            </c:strRef>
          </c:tx>
          <c:spPr>
            <a:solidFill>
              <a:srgbClr val="F0A500"/>
            </a:solidFill>
            <a:ln w="31750" cap="flat">
              <a:solidFill>
                <a:srgbClr val="F0A5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0A500"/>
              </a:solidFill>
              <a:ln w="9525" cap="flat">
                <a:solidFill>
                  <a:srgbClr val="F0A5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410</c:v>
                </c:pt>
                <c:pt idx="1">
                  <c:v>400</c:v>
                </c:pt>
                <c:pt idx="2">
                  <c:v>460</c:v>
                </c:pt>
                <c:pt idx="3">
                  <c:v>490</c:v>
                </c:pt>
                <c:pt idx="4">
                  <c:v>510</c:v>
                </c:pt>
                <c:pt idx="5">
                  <c:v>620</c:v>
                </c:pt>
                <c:pt idx="6">
                  <c:v>710</c:v>
                </c:pt>
                <c:pt idx="7">
                  <c:v>695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AA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40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AA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AAAB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2E4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 Price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Product A</c:v>
                  </c:pt>
                  <c:pt idx="1">
                    <c:v>Product B</c:v>
                  </c:pt>
                  <c:pt idx="2">
                    <c:v>Product C</c:v>
                  </c:pt>
                  <c:pt idx="3">
                    <c:v>Product D</c:v>
                  </c:pt>
                  <c:pt idx="4">
                    <c:v>Product 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85</c:v>
                </c:pt>
                <c:pt idx="2">
                  <c:v>200</c:v>
                </c:pt>
                <c:pt idx="3">
                  <c:v>150</c:v>
                </c:pt>
                <c:pt idx="4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Competitor Avg</c:v>
                </c:pt>
              </c:strCache>
            </c:strRef>
          </c:tx>
          <c:spPr>
            <a:solidFill>
              <a:srgbClr val="EF47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Product A</c:v>
                  </c:pt>
                  <c:pt idx="1">
                    <c:v>Product B</c:v>
                  </c:pt>
                  <c:pt idx="2">
                    <c:v>Product C</c:v>
                  </c:pt>
                  <c:pt idx="3">
                    <c:v>Product D</c:v>
                  </c:pt>
                  <c:pt idx="4">
                    <c:v>Product 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135</c:v>
                </c:pt>
                <c:pt idx="1">
                  <c:v>90</c:v>
                </c:pt>
                <c:pt idx="2">
                  <c:v>185</c:v>
                </c:pt>
                <c:pt idx="3">
                  <c:v>165</c:v>
                </c:pt>
                <c:pt idx="4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AA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40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AA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AAAB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2E4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Revenue</c:v>
                </c:pt>
              </c:strCache>
            </c:strRef>
          </c:tx>
          <c:spPr>
            <a:solidFill>
              <a:srgbClr val="8AAABB"/>
            </a:solidFill>
            <a:ln w="31750" cap="flat">
              <a:solidFill>
                <a:srgbClr val="8AAAB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AABB"/>
              </a:solidFill>
              <a:ln w="9525" cap="flat">
                <a:solidFill>
                  <a:srgbClr val="8AAAB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80000</c:v>
                </c:pt>
                <c:pt idx="1">
                  <c:v>82000</c:v>
                </c:pt>
                <c:pt idx="2">
                  <c:v>79000</c:v>
                </c:pt>
                <c:pt idx="3">
                  <c:v>85000</c:v>
                </c:pt>
                <c:pt idx="4">
                  <c:v>88000</c:v>
                </c:pt>
                <c:pt idx="5">
                  <c:v>86000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AI-Optimized Revenue</c:v>
                </c:pt>
              </c:strCache>
            </c:strRef>
          </c:tx>
          <c:spPr>
            <a:solidFill>
              <a:srgbClr val="F0A500"/>
            </a:solidFill>
            <a:ln w="31750" cap="flat">
              <a:solidFill>
                <a:srgbClr val="F0A5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0A500"/>
              </a:solidFill>
              <a:ln w="9525" cap="flat">
                <a:solidFill>
                  <a:srgbClr val="F0A5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80000</c:v>
                </c:pt>
                <c:pt idx="1">
                  <c:v>89000</c:v>
                </c:pt>
                <c:pt idx="2">
                  <c:v>93000</c:v>
                </c:pt>
                <c:pt idx="3">
                  <c:v>101000</c:v>
                </c:pt>
                <c:pt idx="4">
                  <c:v>112000</c:v>
                </c:pt>
                <c:pt idx="5">
                  <c:v>118000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0077B6">
              <a:alpha val="18000"/>
            </a:srgbClr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AI-POWERED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&amp;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AI, ML &amp; Real-Time Analytics to Maximize Revenue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" y="440740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Data Collection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" y="4709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AABB"/>
                </a:solidFill>
              </a:rPr>
              <a:t>Member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572768" y="440740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Demand Prediction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72768" y="4709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AABB"/>
                </a:solidFill>
              </a:rPr>
              <a:t>Member 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72384" y="440740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Price Optimization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72384" y="4709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AABB"/>
                </a:solidFill>
              </a:rPr>
              <a:t>Member 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40740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Competitor Analysis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0" y="4709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AABB"/>
                </a:solidFill>
              </a:rPr>
              <a:t>Member 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71616" y="440740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Revenue Strategy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71616" y="4709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AABB"/>
                </a:solidFill>
              </a:rPr>
              <a:t>Member 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571232" y="440740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Dashboard &amp; UI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571232" y="4709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AABB"/>
                </a:solidFill>
              </a:rPr>
              <a:t>Member 6</a:t>
            </a:r>
            <a:endParaRPr lang="en-US" sz="8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ABB"/>
                </a:solidFill>
              </a:rPr>
              <a:t>End-to-end AI pipeline from raw data to intelligent pricing decisions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96596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155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Data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9019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Collection &amp; Preprocessing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40280" y="2331720"/>
            <a:ext cx="210312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1097280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097280"/>
            <a:ext cx="196596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1155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50592" y="1554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AI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50592" y="19019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Demand &amp; Price Models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16552" y="2331720"/>
            <a:ext cx="210312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1097280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097280"/>
            <a:ext cx="1965960" cy="3657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1155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26864" y="1554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Analytics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26864" y="19019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Competitor &amp; Revenue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92824" y="2331720"/>
            <a:ext cx="210312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03136" y="1097280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03136" y="1097280"/>
            <a:ext cx="1965960" cy="365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03136" y="11155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03136" y="1554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Delivery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03136" y="19019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Dashboard &amp; Reports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" y="2304288"/>
            <a:ext cx="5486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267712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144"/>
                </a:solidFill>
              </a:rPr>
              <a:t>Pricing Data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" y="2651760"/>
            <a:ext cx="5486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615184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144"/>
                </a:solidFill>
              </a:rPr>
              <a:t>Missing Values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84048" y="2999232"/>
            <a:ext cx="5486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2962656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144"/>
                </a:solidFill>
              </a:rPr>
              <a:t>Feature Engineering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4048" y="3346704"/>
            <a:ext cx="5486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310128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144"/>
                </a:solidFill>
              </a:rPr>
              <a:t>Data Normalization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0" y="2304288"/>
            <a:ext cx="5486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79192" y="2267712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144"/>
                </a:solidFill>
              </a:rPr>
              <a:t>Demand Prediction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0" y="2651760"/>
            <a:ext cx="5486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9192" y="2615184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144"/>
                </a:solidFill>
              </a:rPr>
              <a:t>Seasonal Trends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0" y="2999232"/>
            <a:ext cx="5486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79192" y="2962656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144"/>
                </a:solidFill>
              </a:rPr>
              <a:t>Time-Series Models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60320" y="3346704"/>
            <a:ext cx="5486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79192" y="3310128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144"/>
                </a:solidFill>
              </a:rPr>
              <a:t>LSTM / ARIMA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36592" y="2304288"/>
            <a:ext cx="5486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2267712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144"/>
                </a:solidFill>
              </a:rPr>
              <a:t>Dynamic Pricing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36592" y="2651760"/>
            <a:ext cx="5486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55464" y="2615184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144"/>
                </a:solidFill>
              </a:rPr>
              <a:t>Regression Models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36592" y="2999232"/>
            <a:ext cx="5486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55464" y="2962656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144"/>
                </a:solidFill>
              </a:rPr>
              <a:t>Competitor Analysis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36592" y="3346704"/>
            <a:ext cx="5486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3310128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144"/>
                </a:solidFill>
              </a:rPr>
              <a:t>Market Trends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12864" y="2304288"/>
            <a:ext cx="5486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31736" y="2267712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144"/>
                </a:solidFill>
              </a:rPr>
              <a:t>Revenue Calc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912864" y="2651760"/>
            <a:ext cx="5486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31736" y="2615184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144"/>
                </a:solidFill>
              </a:rPr>
              <a:t>Best Strategy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912864" y="2999232"/>
            <a:ext cx="5486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1736" y="2962656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144"/>
                </a:solidFill>
              </a:rPr>
              <a:t>Visualizations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912864" y="3346704"/>
            <a:ext cx="5486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31736" y="3310128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144"/>
                </a:solidFill>
              </a:rPr>
              <a:t>Interactive UI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6 specialized modules working in concert to deliver real-time intelligent pricing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089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4572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MODULE 01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82880" y="166420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Preprocessing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82880" y="2542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ABB"/>
                </a:solidFill>
              </a:rPr>
              <a:t>Member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716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500"/>
                </a:solidFill>
              </a:rPr>
              <a:t>500K+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0876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</a:rPr>
              <a:t>Data Points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37160" y="36210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500"/>
                </a:solidFill>
              </a:rPr>
              <a:t>99.2%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08760" y="36210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37160" y="41330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500"/>
                </a:solidFill>
              </a:rPr>
              <a:t>Real-time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08760" y="41330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</a:rPr>
              <a:t>Updates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83280" y="274320"/>
            <a:ext cx="5394960" cy="1325880"/>
          </a:xfrm>
          <a:prstGeom prst="rect">
            <a:avLst/>
          </a:prstGeom>
          <a:solidFill>
            <a:srgbClr val="F0F4F8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83280" y="274320"/>
            <a:ext cx="73152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47872" y="3840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Gather Pricing Data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547872" y="713232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3144"/>
                </a:solidFill>
              </a:rPr>
              <a:t>Collect historical &amp; real-time pricing data from multiple sources including APIs, web scrapers, and internal databases.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383280" y="1737360"/>
            <a:ext cx="5394960" cy="1325880"/>
          </a:xfrm>
          <a:prstGeom prst="rect">
            <a:avLst/>
          </a:prstGeom>
          <a:solidFill>
            <a:srgbClr val="F0F4F8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383280" y="1737360"/>
            <a:ext cx="73152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47872" y="184708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Handle Missing Values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47872" y="2176272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3144"/>
                </a:solidFill>
              </a:rPr>
              <a:t>Apply imputation strategies (mean, median, KNN) to ensure complete datasets for model training.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383280" y="3200400"/>
            <a:ext cx="5394960" cy="1325880"/>
          </a:xfrm>
          <a:prstGeom prst="rect">
            <a:avLst/>
          </a:prstGeom>
          <a:solidFill>
            <a:srgbClr val="F0F4F8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383280" y="3200400"/>
            <a:ext cx="73152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47872" y="331012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Feature Engineering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547872" y="3639312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3144"/>
                </a:solidFill>
              </a:rPr>
              <a:t>Transform raw data into meaningful features: price elasticity, seasonality indices, demand signals, and lag variables.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383280" y="4663440"/>
            <a:ext cx="53949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74720" y="4681728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Technologies: Python • Pandas • NumPy • Scikit-learn • Apache Kafka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560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MODULE 02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9728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097280" y="960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ABB"/>
                </a:solidFill>
              </a:rPr>
              <a:t>Member 2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371600"/>
          <a:ext cx="5029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669280" y="1371600"/>
            <a:ext cx="3200400" cy="1097280"/>
          </a:xfrm>
          <a:prstGeom prst="rect">
            <a:avLst/>
          </a:prstGeom>
          <a:solidFill>
            <a:srgbClr val="1A2E42"/>
          </a:solidFill>
          <a:ln w="6350">
            <a:solidFill>
              <a:srgbClr val="2A405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669280" y="1371600"/>
            <a:ext cx="64008" cy="10972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833872" y="14630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Predict Future Demand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833872" y="179222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LSTM neural networks and ARIMA models forecast demand up to 90 days ahead with ~94% accuracy.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669280" y="2606040"/>
            <a:ext cx="3200400" cy="1097280"/>
          </a:xfrm>
          <a:prstGeom prst="rect">
            <a:avLst/>
          </a:prstGeom>
          <a:solidFill>
            <a:srgbClr val="1A2E42"/>
          </a:solidFill>
          <a:ln w="6350">
            <a:solidFill>
              <a:srgbClr val="2A405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669280" y="2606040"/>
            <a:ext cx="64008" cy="10972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833872" y="2697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Analyze Seasonal Trends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833872" y="302666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Decompose time-series data to identify seasonality, cyclical patterns, and holiday effects.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669280" y="3840480"/>
            <a:ext cx="3200400" cy="1097280"/>
          </a:xfrm>
          <a:prstGeom prst="rect">
            <a:avLst/>
          </a:prstGeom>
          <a:solidFill>
            <a:srgbClr val="1A2E42"/>
          </a:solidFill>
          <a:ln w="6350">
            <a:solidFill>
              <a:srgbClr val="2A405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669280" y="3840480"/>
            <a:ext cx="64008" cy="10972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33872" y="39319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Demand Elasticity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833872" y="426110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Measure price sensitivity to model how demand shifts with pricing changes.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943600" y="4572000"/>
            <a:ext cx="1188720" cy="45720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943600" y="4572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94% Accuracy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315200" y="4617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BB"/>
                </a:solidFill>
              </a:rPr>
              <a:t>Models: LSTM • ARIMA • Prophet • XGBoost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MODULE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Price Prediction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ABB"/>
                </a:solidFill>
              </a:rPr>
              <a:t>Member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66160" y="146304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87%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Linear Regression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8928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</a:rPr>
              <a:t>Baseline price modeling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278434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286000"/>
            <a:ext cx="3200400" cy="10972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286000"/>
            <a:ext cx="278434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41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Accuracy: 87%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0" y="146304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92%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5087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Random Forest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8928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</a:rPr>
              <a:t>Non-linear price factors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286000"/>
            <a:ext cx="294436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286000"/>
            <a:ext cx="3200400" cy="10972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286000"/>
            <a:ext cx="294436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441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Accuracy: 92%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66160" y="315468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94%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200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Gradient Boosting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35844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</a:rPr>
              <a:t>Complex interactions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977640"/>
            <a:ext cx="3008376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977640"/>
            <a:ext cx="3200400" cy="10972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977640"/>
            <a:ext cx="3008376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1330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Accuracy: 94%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301752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863840" y="315468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96%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3200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Neural Network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46320" y="35844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</a:rPr>
              <a:t>Deep feature learning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977640"/>
            <a:ext cx="3072384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3977640"/>
            <a:ext cx="3200400" cy="10972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3977640"/>
            <a:ext cx="3072384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41330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Accuracy: 96%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7823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⚙  Price Optimization: Maximize revenue while respecting business constraints and demand elasticity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56032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28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</a:rPr>
              <a:t>MODULE 04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97280" y="47548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097280" y="9326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ABB"/>
                </a:solidFill>
              </a:rPr>
              <a:t>Member 4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32588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577840" y="1325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Market Intelligence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577840" y="1783080"/>
            <a:ext cx="3337560" cy="685800"/>
          </a:xfrm>
          <a:prstGeom prst="rect">
            <a:avLst/>
          </a:prstGeom>
          <a:solidFill>
            <a:srgbClr val="1A2E42"/>
          </a:solidFill>
          <a:ln w="6350">
            <a:solidFill>
              <a:srgbClr val="2A405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577840" y="1783080"/>
            <a:ext cx="64008" cy="6858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42432" y="18013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</a:rPr>
              <a:t>Real-Time Scraping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742432" y="20756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Monitor competitor prices 24/7 across channels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577840" y="2587752"/>
            <a:ext cx="3337560" cy="685800"/>
          </a:xfrm>
          <a:prstGeom prst="rect">
            <a:avLst/>
          </a:prstGeom>
          <a:solidFill>
            <a:srgbClr val="1A2E42"/>
          </a:solidFill>
          <a:ln w="6350">
            <a:solidFill>
              <a:srgbClr val="2A405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577840" y="2587752"/>
            <a:ext cx="64008" cy="6858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742432" y="26060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</a:rPr>
              <a:t>Price Gap Analysis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742432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Identify positioning opportunities in the market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577840" y="3392424"/>
            <a:ext cx="3337560" cy="685800"/>
          </a:xfrm>
          <a:prstGeom prst="rect">
            <a:avLst/>
          </a:prstGeom>
          <a:solidFill>
            <a:srgbClr val="1A2E42"/>
          </a:solidFill>
          <a:ln w="6350">
            <a:solidFill>
              <a:srgbClr val="2A405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577840" y="3392424"/>
            <a:ext cx="64008" cy="6858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742432" y="341071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</a:rPr>
              <a:t>Market Trend Signals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742432" y="36850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Detect shifts in competitor strategy before they impact revenue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577840" y="4197096"/>
            <a:ext cx="3337560" cy="685800"/>
          </a:xfrm>
          <a:prstGeom prst="rect">
            <a:avLst/>
          </a:prstGeom>
          <a:solidFill>
            <a:srgbClr val="1A2E42"/>
          </a:solidFill>
          <a:ln w="6350">
            <a:solidFill>
              <a:srgbClr val="2A405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577840" y="4197096"/>
            <a:ext cx="64008" cy="6858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742432" y="421538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</a:rPr>
              <a:t>Benchmark Scoring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742432" y="448970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Compare on price, value, features, and availability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577840" y="48463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AABB"/>
                </a:solidFill>
              </a:rPr>
              <a:t>Tools: Beautiful Soup • Selenium • Scrapy • APIs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64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MODULE 05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88720" y="4114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Optimization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8872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ABB"/>
                </a:solidFill>
              </a:rPr>
              <a:t>Member 5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32588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669280" y="1325880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669280" y="1325880"/>
            <a:ext cx="73152" cy="10058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852160" y="1417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585216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Revenue Uplift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669280" y="2514600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669280" y="2514600"/>
            <a:ext cx="73152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852160" y="2606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-15%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585216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Stockout Rate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669280" y="3703320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69280" y="3703320"/>
            <a:ext cx="73152" cy="10058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52160" y="3794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585216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Margin Gain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7200" y="47823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Strategy Engine: A/B Testing • Price Elasticity Optimization • Constraint-Aware LP Solver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MODULE 06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97280" y="43891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Frontend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09728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ABB"/>
                </a:solidFill>
              </a:rPr>
              <a:t>Member 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1325880"/>
            <a:ext cx="4114800" cy="1371600"/>
          </a:xfrm>
          <a:prstGeom prst="rect">
            <a:avLst/>
          </a:prstGeom>
          <a:solidFill>
            <a:srgbClr val="1C31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325880"/>
            <a:ext cx="4114800" cy="32004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136245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Live Price Monitor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1828800"/>
            <a:ext cx="3840480" cy="73152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2084832"/>
            <a:ext cx="3840480" cy="73152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340864"/>
            <a:ext cx="3840480" cy="73152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325880"/>
            <a:ext cx="4114800" cy="1371600"/>
          </a:xfrm>
          <a:prstGeom prst="rect">
            <a:avLst/>
          </a:prstGeom>
          <a:solidFill>
            <a:srgbClr val="1C3144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1325880"/>
            <a:ext cx="4114800" cy="320040"/>
          </a:xfrm>
          <a:prstGeom prst="rect">
            <a:avLst/>
          </a:prstGeom>
          <a:solidFill>
            <a:srgbClr val="F0A500">
              <a:alpha val="80000"/>
            </a:srgbClr>
          </a:solidFill>
          <a:ln w="12700">
            <a:solidFill>
              <a:srgbClr val="F0A500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73168" y="136245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Demand Forecast Chart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00600" y="1828800"/>
            <a:ext cx="3840480" cy="73152"/>
          </a:xfrm>
          <a:prstGeom prst="rect">
            <a:avLst/>
          </a:prstGeom>
          <a:solidFill>
            <a:srgbClr val="F0A500">
              <a:alpha val="30000"/>
            </a:srgbClr>
          </a:solidFill>
          <a:ln w="12700">
            <a:solidFill>
              <a:srgbClr val="F0A500">
                <a:alpha val="3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00600" y="2084832"/>
            <a:ext cx="3840480" cy="73152"/>
          </a:xfrm>
          <a:prstGeom prst="rect">
            <a:avLst/>
          </a:prstGeom>
          <a:solidFill>
            <a:srgbClr val="F0A500">
              <a:alpha val="30000"/>
            </a:srgbClr>
          </a:solidFill>
          <a:ln w="12700">
            <a:solidFill>
              <a:srgbClr val="F0A500">
                <a:alpha val="3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00600" y="2340864"/>
            <a:ext cx="3840480" cy="73152"/>
          </a:xfrm>
          <a:prstGeom prst="rect">
            <a:avLst/>
          </a:prstGeom>
          <a:solidFill>
            <a:srgbClr val="F0A500">
              <a:alpha val="30000"/>
            </a:srgbClr>
          </a:solidFill>
          <a:ln w="12700">
            <a:solidFill>
              <a:srgbClr val="F0A500">
                <a:alpha val="3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" y="2834640"/>
            <a:ext cx="2651760" cy="1463040"/>
          </a:xfrm>
          <a:prstGeom prst="rect">
            <a:avLst/>
          </a:prstGeom>
          <a:solidFill>
            <a:srgbClr val="1C3144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2834640"/>
            <a:ext cx="2651760" cy="320040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" y="287121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Competitor Price Map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02920" y="3337560"/>
            <a:ext cx="2377440" cy="73152"/>
          </a:xfrm>
          <a:prstGeom prst="rect">
            <a:avLst/>
          </a:prstGeom>
          <a:solidFill>
            <a:srgbClr val="EF476F">
              <a:alpha val="30000"/>
            </a:srgbClr>
          </a:solidFill>
          <a:ln w="12700">
            <a:solidFill>
              <a:srgbClr val="EF476F">
                <a:alpha val="3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2920" y="3593592"/>
            <a:ext cx="2377440" cy="73152"/>
          </a:xfrm>
          <a:prstGeom prst="rect">
            <a:avLst/>
          </a:prstGeom>
          <a:solidFill>
            <a:srgbClr val="EF476F">
              <a:alpha val="30000"/>
            </a:srgbClr>
          </a:solidFill>
          <a:ln w="12700">
            <a:solidFill>
              <a:srgbClr val="EF476F">
                <a:alpha val="3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3849624"/>
            <a:ext cx="2377440" cy="73152"/>
          </a:xfrm>
          <a:prstGeom prst="rect">
            <a:avLst/>
          </a:prstGeom>
          <a:solidFill>
            <a:srgbClr val="EF476F">
              <a:alpha val="30000"/>
            </a:srgbClr>
          </a:solidFill>
          <a:ln w="12700">
            <a:solidFill>
              <a:srgbClr val="EF476F">
                <a:alpha val="3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00400" y="2834640"/>
            <a:ext cx="2651760" cy="1463040"/>
          </a:xfrm>
          <a:prstGeom prst="rect">
            <a:avLst/>
          </a:prstGeom>
          <a:solidFill>
            <a:srgbClr val="1C3144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00400" y="2834640"/>
            <a:ext cx="2651760" cy="32004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>
                <a:alpha val="8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10128" y="287121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Revenue Dashboard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337560" y="3337560"/>
            <a:ext cx="2377440" cy="73152"/>
          </a:xfrm>
          <a:prstGeom prst="rect">
            <a:avLst/>
          </a:prstGeom>
          <a:solidFill>
            <a:srgbClr val="06D6A0">
              <a:alpha val="30000"/>
            </a:srgbClr>
          </a:solidFill>
          <a:ln w="12700">
            <a:solidFill>
              <a:srgbClr val="06D6A0">
                <a:alpha val="3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337560" y="3593592"/>
            <a:ext cx="2377440" cy="73152"/>
          </a:xfrm>
          <a:prstGeom prst="rect">
            <a:avLst/>
          </a:prstGeom>
          <a:solidFill>
            <a:srgbClr val="06D6A0">
              <a:alpha val="30000"/>
            </a:srgbClr>
          </a:solidFill>
          <a:ln w="12700">
            <a:solidFill>
              <a:srgbClr val="06D6A0">
                <a:alpha val="30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337560" y="3849624"/>
            <a:ext cx="2377440" cy="73152"/>
          </a:xfrm>
          <a:prstGeom prst="rect">
            <a:avLst/>
          </a:prstGeom>
          <a:solidFill>
            <a:srgbClr val="06D6A0">
              <a:alpha val="30000"/>
            </a:srgbClr>
          </a:solidFill>
          <a:ln w="12700">
            <a:solidFill>
              <a:srgbClr val="06D6A0">
                <a:alpha val="3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2834640"/>
            <a:ext cx="2743200" cy="1463040"/>
          </a:xfrm>
          <a:prstGeom prst="rect">
            <a:avLst/>
          </a:prstGeom>
          <a:solidFill>
            <a:srgbClr val="1C314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035040" y="2834640"/>
            <a:ext cx="2743200" cy="32004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>
                <a:alpha val="8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44768" y="287121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Recommendations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172200" y="3337560"/>
            <a:ext cx="2468880" cy="73152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172200" y="3593592"/>
            <a:ext cx="2468880" cy="73152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172200" y="3849624"/>
            <a:ext cx="2468880" cy="73152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65760" y="457200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1C3144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65760" y="4572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React.js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1783080" y="457200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1C3144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783080" y="4572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Python Flask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3200400" y="457200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1C3144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200400" y="4572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PostgreSQL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617720" y="457200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1C3144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17720" y="4572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Chart.js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035040" y="457200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1C3144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035040" y="4572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Docker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7452360" y="457200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1C3144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452360" y="4572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AWS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&amp; Business Impact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ABB"/>
                </a:solidFill>
              </a:rPr>
              <a:t>Measurable outcomes from deploying the AI-powered pricing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2651760" cy="1554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97280"/>
            <a:ext cx="265176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344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18470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Revenue Growth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13969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</a:rPr>
              <a:t>Average revenue uplift within 3 months of deployment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0" y="1097280"/>
            <a:ext cx="2651760" cy="1554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09728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2344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74720" y="18470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Forecast Accuracy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11880" y="213969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</a:rPr>
              <a:t>Demand prediction precision across all product categories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309360" y="1097280"/>
            <a:ext cx="2651760" cy="1554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097280"/>
            <a:ext cx="265176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2344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309360" y="18470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Faster Pricing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213969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</a:rPr>
              <a:t>Pricing decisions made in seconds versus hours manually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2834640"/>
            <a:ext cx="2651760" cy="1554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2834640"/>
            <a:ext cx="2651760" cy="731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718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-18%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40080" y="3584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Inventory Cost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387705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</a:rPr>
              <a:t>Reduction in overstock and stockout losses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0" y="2834640"/>
            <a:ext cx="2651760" cy="1554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0" y="2834640"/>
            <a:ext cx="265176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9718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15min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474720" y="3584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Update Cycle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11880" y="387705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</a:rPr>
              <a:t>Prices refreshed every 15 minutes based on live signals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309360" y="2834640"/>
            <a:ext cx="2651760" cy="1554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2834640"/>
            <a:ext cx="265176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29718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309360" y="3584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SKUs Managed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46520" y="387705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</a:rPr>
              <a:t>Simultaneous dynamic pricing across product catalog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5486400" cy="5486400"/>
          </a:xfrm>
          <a:prstGeom prst="ellipse">
            <a:avLst/>
          </a:prstGeom>
          <a:solidFill>
            <a:srgbClr val="0077B6">
              <a:alpha val="12000"/>
            </a:srgbClr>
          </a:solidFill>
          <a:ln w="12700">
            <a:solidFill>
              <a:srgbClr val="0077B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F0A500">
              <a:alpha val="10000"/>
            </a:srgbClr>
          </a:solidFill>
          <a:ln w="12700">
            <a:solidFill>
              <a:srgbClr val="F0A500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Way to Price,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Stronger Way to Grow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ABB"/>
                </a:solidFill>
              </a:rPr>
              <a:t>Our AI-powered dynamic pricing and demand forecasting system unifies six specialized modules — from intelligent data pipelines to real-time dashboards — enabling businesses to respond instantly to market shifts, optimize revenue, and stay ahead of competitors.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2606040" cy="1371600"/>
          </a:xfrm>
          <a:prstGeom prst="rect">
            <a:avLst/>
          </a:prstGeom>
          <a:solidFill>
            <a:srgbClr val="1A2E42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337560"/>
            <a:ext cx="26060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564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Intelligent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85876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AI/ML models that learn and adapt continuously to market conditions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3337560"/>
            <a:ext cx="2606040" cy="1371600"/>
          </a:xfrm>
          <a:prstGeom prst="rect">
            <a:avLst/>
          </a:prstGeom>
          <a:solidFill>
            <a:srgbClr val="1A2E42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3337560"/>
            <a:ext cx="26060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34564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Real-Time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385876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Live pricing updates every 15 minutes based on fresh signals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3337560"/>
            <a:ext cx="2606040" cy="1371600"/>
          </a:xfrm>
          <a:prstGeom prst="rect">
            <a:avLst/>
          </a:prstGeom>
          <a:solidFill>
            <a:srgbClr val="1A2E42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337560"/>
            <a:ext cx="26060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4564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Profitable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385876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Proven +22% revenue uplift with measurable ROI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455"/>
                </a:solidFill>
              </a:rPr>
              <a:t>Built with Python • TensorFlow • React • PostgreSQL • Docker • AWS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Dynamic Pricing &amp; Demand Forecasting System</dc:title>
  <dc:subject>PptxGenJS Presentation</dc:subject>
  <dc:creator>PptxGenJS</dc:creator>
  <cp:lastModifiedBy>PptxGenJS</cp:lastModifiedBy>
  <cp:revision>1</cp:revision>
  <dcterms:created xsi:type="dcterms:W3CDTF">2026-06-06T09:38:08Z</dcterms:created>
  <dcterms:modified xsi:type="dcterms:W3CDTF">2026-06-06T09:38:08Z</dcterms:modified>
</cp:coreProperties>
</file>