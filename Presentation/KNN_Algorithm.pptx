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86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94560">
              <a:alpha val="3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(KNN) Algorithm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Group Study Presentation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Sridhar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0020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Vamsi Kumar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 KNN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Rama Chandra Mohan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Yashasweeni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Jayanth Kumar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5240" y="4206240"/>
            <a:ext cx="137160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42062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Akila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Sridhar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KNN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319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stands for K-Nearest Neighbors, a simple yet powerful machine learning algorithm.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non-parametric, instance-based learning algorithm — no explicit training phase.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or predicts based on the majority of the K closest data points.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 lazy learner because it memorizes the training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34440"/>
            <a:ext cx="420624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527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category/class label.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Spam vs. Not Spam, Disease diagnosis.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926080"/>
            <a:ext cx="42062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44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numerical value.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House price prediction, temperature forecasting.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84582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663440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"Tell me who your neighbors are, and I'll tell you who you are."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Vamsi Kumar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 KNN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7830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the training dataset with labeled examples.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2984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number K — how many nearest neighbors to consider.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2984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1228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7830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between the new point and every training data point (Euclidean, Manhattan, etc.).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1272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 Neighbors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6118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distances and pick the K closest data points to the new query point.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31272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6118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classification: vote the most common class. For regression: average the K neighbors' values.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74320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3127248"/>
            <a:ext cx="502920" cy="5029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Output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611880"/>
            <a:ext cx="2514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winning class or computed value as the prediction for the new data point.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Voting: The class with the highest count among K neighbors wins the prediction!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Rama Chandra Mohan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840480" cy="548640"/>
          </a:xfrm>
          <a:prstGeom prst="rect">
            <a:avLst/>
          </a:prstGeom>
          <a:solidFill>
            <a:srgbClr val="EBF4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√[(x₂−x₁)² + (y₂−y₁)²]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straight-line (as-the-crow-flies) distance between two points.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used metric in KNN.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for continuous, numeric data.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 — feature scaling is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43000"/>
            <a:ext cx="411480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704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3840480" cy="548640"/>
          </a:xfrm>
          <a:prstGeom prst="rect">
            <a:avLst/>
          </a:prstGeom>
          <a:solidFill>
            <a:srgbClr val="FFF5F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|x₂−x₁| + |y₂−y₁|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 traveled along grid-like paths (like city blocks).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Taxicab or L1 distance.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compared to Euclidean.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high-dimensional and sparse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389120"/>
            <a:ext cx="8458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Distance defines 'closeness'. The metric chosen directly affects which neighbors are selected and thus the prediction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A1A"/>
          </a:solidFill>
          <a:ln w="12700">
            <a:solidFill>
              <a:srgbClr val="0A0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Yashasweeni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K Value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 (e.g., K=1 )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The model looks at only one nearest </a:t>
            </a:r>
            <a:r>
              <a:rPr lang="en-IN" sz="1100" dirty="0" err="1">
                <a:solidFill>
                  <a:schemeClr val="bg2"/>
                </a:solidFill>
              </a:rPr>
              <a:t>neighbor</a:t>
            </a:r>
            <a:r>
              <a:rPr lang="en-IN" sz="1100" dirty="0">
                <a:solidFill>
                  <a:schemeClr val="bg2"/>
                </a:solidFill>
              </a:rPr>
              <a:t>.</a:t>
            </a:r>
            <a:endParaRPr lang="en-US" sz="1100" dirty="0">
              <a:solidFill>
                <a:schemeClr val="bg2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It becomes very sensitive to noise and outliers.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This may lead to </a:t>
            </a:r>
            <a:r>
              <a:rPr lang="en-IN" sz="1100" b="1" dirty="0">
                <a:solidFill>
                  <a:schemeClr val="bg2"/>
                </a:solidFill>
              </a:rPr>
              <a:t>overfitting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Good on training data, poor on test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 (e.g., K=20+)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The model considers many </a:t>
            </a:r>
            <a:r>
              <a:rPr lang="en-IN" sz="1100" dirty="0" err="1">
                <a:solidFill>
                  <a:schemeClr val="bg2"/>
                </a:solidFill>
              </a:rPr>
              <a:t>neighbors</a:t>
            </a:r>
            <a:r>
              <a:rPr lang="en-IN" sz="1100" dirty="0">
                <a:solidFill>
                  <a:schemeClr val="bg2"/>
                </a:solidFill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Important patterns may be ignored.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IN" sz="1100" dirty="0">
                <a:solidFill>
                  <a:schemeClr val="bg2"/>
                </a:solidFill>
              </a:rPr>
              <a:t>This may lead to </a:t>
            </a:r>
            <a:r>
              <a:rPr lang="en-IN" sz="1100" b="1" dirty="0">
                <a:solidFill>
                  <a:schemeClr val="bg2"/>
                </a:solidFill>
              </a:rPr>
              <a:t>underfitting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Misses important patterns in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8595360" cy="1600200"/>
          </a:xfrm>
          <a:prstGeom prst="rect">
            <a:avLst/>
          </a:prstGeom>
          <a:solidFill>
            <a:srgbClr val="1E2A45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337560"/>
            <a:ext cx="859536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558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How to Choose the Best K?</a:t>
            </a:r>
          </a:p>
        </p:txBody>
      </p:sp>
      <p:sp>
        <p:nvSpPr>
          <p:cNvPr id="16" name="Text 14"/>
          <p:cNvSpPr/>
          <p:nvPr/>
        </p:nvSpPr>
        <p:spPr>
          <a:xfrm>
            <a:off x="41148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One common approach is the Elbow Method.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We train the model with different K values such as 1, 3, 5, 7, and 9</a:t>
            </a:r>
            <a:r>
              <a:rPr lang="en-US" sz="1100" dirty="0"/>
              <a:t>.</a:t>
            </a:r>
          </a:p>
        </p:txBody>
      </p:sp>
      <p:sp>
        <p:nvSpPr>
          <p:cNvPr id="18" name="Text 16"/>
          <p:cNvSpPr/>
          <p:nvPr/>
        </p:nvSpPr>
        <p:spPr>
          <a:xfrm>
            <a:off x="975360" y="137160"/>
            <a:ext cx="755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10409"/>
          </a:solidFill>
          <a:ln w="12700">
            <a:solidFill>
              <a:srgbClr val="0104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Jayanth Kumar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with Scikit-learn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120640" cy="4251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6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dot in top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from sklearn.neighbors import KNeighborsClassifier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B8FF"/>
                </a:solidFill>
                <a:latin typeface="Consolas" pitchFamily="34" charset="0"/>
              </a:rPr>
              <a:t>from sklearn.datasets import load_iris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B8FF"/>
                </a:solidFill>
                <a:latin typeface="Consolas" pitchFamily="34" charset="0"/>
              </a:rPr>
              <a:t>from sklearn.model_selection import train_test_split, cross_val_score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B8FF"/>
                </a:solidFill>
                <a:latin typeface="Consolas" pitchFamily="34" charset="0"/>
              </a:rPr>
              <a:t>from sklearn.preprocessing import StandardScaler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B8FF"/>
                </a:solidFill>
                <a:latin typeface="Consolas" pitchFamily="34" charset="0"/>
              </a:rPr>
              <a:t>from sklearn.metrics import accuracy_score, classification_report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#load data set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iris = load_iris()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X, y = iris.data, iris.target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#split for train and test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X_train, X_test, y_train, y_test = train_test_split(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    X, y, test_size=0.2, random_state=42)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#scale training and test 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scaler = StandardScaler()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X_train = scaler.fit_transform(X_train)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X_test  = scaler.transform(X_test)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 Find best K using cross-validation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k_range = range(1, 33)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cv_scores = [cross_val_score(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    KNeighborsClassifier(n_neighbors=k),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    X_train, y_train, cv=5).mean() for k in k_range]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best_k = list(k_range)[cv_scores.index(max(cv_scores))]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9C74F"/>
                </a:solidFill>
                <a:latin typeface="Consolas" pitchFamily="34" charset="0"/>
              </a:rPr>
              <a:t>print(f'Best K={best_k}  CV Acc={max(cv_scores):.4f}')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#train final model with best_k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knn = KNeighborsClassifier(n_neighbors=best_k)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knn.fit(X_train, y_train)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nsolas" pitchFamily="34" charset="0"/>
              </a:rPr>
              <a:t># Plot CV accuracy vs 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B8FF"/>
                </a:solidFill>
                <a:latin typeface="Consolas" pitchFamily="34" charset="0"/>
              </a:rPr>
              <a:t>import matplotlib.pyplot as plt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plt.plot(k_range, cv_scores, marker='o')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1E4E8"/>
                </a:solidFill>
                <a:latin typeface="Consolas" pitchFamily="34" charset="0"/>
              </a:rPr>
              <a:t>plt.xlabel('K'); plt.ylabel('CV Accuracy'); plt.show()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291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09728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143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87568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Iris dataset; split into train/test with test_size=0.2, random_state=42.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2057400"/>
            <a:ext cx="3291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057400"/>
            <a:ext cx="54864" cy="82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 using StandardScaler so no single feature dominates distance.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3017520"/>
            <a:ext cx="3291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3017520"/>
            <a:ext cx="54864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Best 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87568" y="3337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K=1..32; pick best_k via max CV score. Fit final model.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3977640"/>
            <a:ext cx="32918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977640"/>
            <a:ext cx="54864" cy="8229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&amp; Visualize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87568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CV accuracy vs K with matplotlib to visualize optimal K selection.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4846320"/>
            <a:ext cx="3291840" cy="32004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Iris (150 samples, 4 features, 3 classes)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Akila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Pros, Cons &amp; Real-World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331720"/>
          </a:xfrm>
          <a:prstGeom prst="rect">
            <a:avLst/>
          </a:prstGeom>
          <a:solidFill>
            <a:srgbClr val="F0FFF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560320" cy="170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classification and regression.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phase required.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2331720"/>
          </a:xfrm>
          <a:prstGeom prst="rect">
            <a:avLst/>
          </a:prstGeom>
          <a:solidFill>
            <a:srgbClr val="FFF5F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97280"/>
            <a:ext cx="2743200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155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Disadvantages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609344"/>
            <a:ext cx="2560320" cy="170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datasets.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noisy data.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feature scaling.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233172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155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Applications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09344"/>
            <a:ext cx="2560320" cy="1709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11880"/>
            <a:ext cx="274320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301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diseases like diabetes or cancer by comparing patient data to known cases.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6118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611880"/>
            <a:ext cx="2743200" cy="4389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6301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Recommendation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114800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&amp; Amazon suggest content based on users with similar tastes and preferences.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6118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611880"/>
            <a:ext cx="27432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630168"/>
            <a:ext cx="2560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Pattern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4114800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images, detect fraud, and recognize patterns in complex real-world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5230368"/>
            <a:ext cx="85953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230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simple, powerful, and versatile — a foundational algorithm every data scientist must know.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— Key Takeaways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a lazy, instance-based algorithm for classification and regression.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087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58191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classifies by finding K nearest neighbors and using majority voting.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134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38658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metrics (Euclidean, Manhattan) determine neighbor selection.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313432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F9C74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3134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238658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is found via the Elbow Method — balancing bias and variance.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18104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181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1912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makes it easy: scale features, fit, predict, evaluate.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118104"/>
            <a:ext cx="4023360" cy="658368"/>
          </a:xfrm>
          <a:prstGeom prst="rect">
            <a:avLst/>
          </a:prstGeom>
          <a:solidFill>
            <a:srgbClr val="1E2A45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181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319125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recommendations, medical diagnosis, and pattern recognition.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1219</Words>
  <Application>Microsoft Office PowerPoint</Application>
  <PresentationFormat>On-screen Show (16:9)</PresentationFormat>
  <Paragraphs>179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(KNN) Algorithm</dc:title>
  <dc:subject>PptxGenJS Presentation</dc:subject>
  <dc:creator>PptxGenJS</dc:creator>
  <cp:lastModifiedBy>ASUS</cp:lastModifiedBy>
  <cp:revision>5</cp:revision>
  <dcterms:created xsi:type="dcterms:W3CDTF">2026-06-05T04:40:27Z</dcterms:created>
  <dcterms:modified xsi:type="dcterms:W3CDTF">2026-06-05T06:11:07Z</dcterms:modified>
</cp:coreProperties>
</file>